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794113-1111-4E64-945E-636E6E96DB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60E1DB-8AB8-4E5C-9AC1-14BC38BDAFBD}">
      <dgm:prSet/>
      <dgm:spPr/>
      <dgm:t>
        <a:bodyPr/>
        <a:lstStyle/>
        <a:p>
          <a:r>
            <a:rPr lang="en-US" b="0" i="0"/>
            <a:t>Pregunta: ¿Qué determinó la velocidad del rebote municipal?</a:t>
          </a:r>
          <a:endParaRPr lang="en-US"/>
        </a:p>
      </dgm:t>
    </dgm:pt>
    <dgm:pt modelId="{4ECA9EB6-672D-4853-A99F-3406A3CEE456}" type="parTrans" cxnId="{CD8C92F6-DE02-498B-A159-2FCF8FA5643A}">
      <dgm:prSet/>
      <dgm:spPr/>
      <dgm:t>
        <a:bodyPr/>
        <a:lstStyle/>
        <a:p>
          <a:endParaRPr lang="en-US"/>
        </a:p>
      </dgm:t>
    </dgm:pt>
    <dgm:pt modelId="{C8CF787F-6125-4B54-A1BF-3B09C22BD095}" type="sibTrans" cxnId="{CD8C92F6-DE02-498B-A159-2FCF8FA5643A}">
      <dgm:prSet/>
      <dgm:spPr/>
      <dgm:t>
        <a:bodyPr/>
        <a:lstStyle/>
        <a:p>
          <a:endParaRPr lang="en-US"/>
        </a:p>
      </dgm:t>
    </dgm:pt>
    <dgm:pt modelId="{03640B74-ACE4-410B-A5FC-90F3013B89D6}">
      <dgm:prSet/>
      <dgm:spPr/>
      <dgm:t>
        <a:bodyPr/>
        <a:lstStyle/>
        <a:p>
          <a:r>
            <a:rPr lang="en-US" b="0" i="0"/>
            <a:t>H1 (Geográfica): El Interior agroindustrial lideró sobre un AMBA rezagado.</a:t>
          </a:r>
          <a:endParaRPr lang="en-US"/>
        </a:p>
      </dgm:t>
    </dgm:pt>
    <dgm:pt modelId="{DCBC437E-FE99-4298-A765-A687366DF6AB}" type="parTrans" cxnId="{9E5EC8DE-9F27-45FB-B2EE-FAB8D8A3A02D}">
      <dgm:prSet/>
      <dgm:spPr/>
      <dgm:t>
        <a:bodyPr/>
        <a:lstStyle/>
        <a:p>
          <a:endParaRPr lang="en-US"/>
        </a:p>
      </dgm:t>
    </dgm:pt>
    <dgm:pt modelId="{9E8AB8F8-7636-40D0-8BF0-1D063D20E04E}" type="sibTrans" cxnId="{9E5EC8DE-9F27-45FB-B2EE-FAB8D8A3A02D}">
      <dgm:prSet/>
      <dgm:spPr/>
      <dgm:t>
        <a:bodyPr/>
        <a:lstStyle/>
        <a:p>
          <a:endParaRPr lang="en-US"/>
        </a:p>
      </dgm:t>
    </dgm:pt>
    <dgm:pt modelId="{CBBEDD19-4F76-49DA-AE57-5FABE67CAAB4}">
      <dgm:prSet/>
      <dgm:spPr/>
      <dgm:t>
        <a:bodyPr/>
        <a:lstStyle/>
        <a:p>
          <a:r>
            <a:rPr lang="en-US" b="0" i="0"/>
            <a:t>H2 (Sectorial): Los Bienes traccionaron el crecimiento real sobre los Servicios.</a:t>
          </a:r>
          <a:endParaRPr lang="en-US"/>
        </a:p>
      </dgm:t>
    </dgm:pt>
    <dgm:pt modelId="{9E1BC5BA-4B54-473B-94B4-9DD3D9DD6D17}" type="parTrans" cxnId="{F7CCFAE7-A5F1-4B33-AC70-B6B8E0A869B3}">
      <dgm:prSet/>
      <dgm:spPr/>
      <dgm:t>
        <a:bodyPr/>
        <a:lstStyle/>
        <a:p>
          <a:endParaRPr lang="en-US"/>
        </a:p>
      </dgm:t>
    </dgm:pt>
    <dgm:pt modelId="{A6A78E8D-93F5-412A-8819-9C13CCE866DF}" type="sibTrans" cxnId="{F7CCFAE7-A5F1-4B33-AC70-B6B8E0A869B3}">
      <dgm:prSet/>
      <dgm:spPr/>
      <dgm:t>
        <a:bodyPr/>
        <a:lstStyle/>
        <a:p>
          <a:endParaRPr lang="en-US"/>
        </a:p>
      </dgm:t>
    </dgm:pt>
    <dgm:pt modelId="{18E7D0E0-E74C-4CA6-AC4D-6D4528FAA2D0}" type="pres">
      <dgm:prSet presAssocID="{2B794113-1111-4E64-945E-636E6E96DBE6}" presName="root" presStyleCnt="0">
        <dgm:presLayoutVars>
          <dgm:dir/>
          <dgm:resizeHandles val="exact"/>
        </dgm:presLayoutVars>
      </dgm:prSet>
      <dgm:spPr/>
    </dgm:pt>
    <dgm:pt modelId="{EC13609F-8021-416B-AE62-D1BF59E03B33}" type="pres">
      <dgm:prSet presAssocID="{3460E1DB-8AB8-4E5C-9AC1-14BC38BDAFBD}" presName="compNode" presStyleCnt="0"/>
      <dgm:spPr/>
    </dgm:pt>
    <dgm:pt modelId="{243B9D82-E0F2-41B3-B317-59BB2B8B2698}" type="pres">
      <dgm:prSet presAssocID="{3460E1DB-8AB8-4E5C-9AC1-14BC38BDAFBD}" presName="bgRect" presStyleLbl="bgShp" presStyleIdx="0" presStyleCnt="3"/>
      <dgm:spPr/>
    </dgm:pt>
    <dgm:pt modelId="{88596372-0E64-4DAF-B6C3-B8032005C917}" type="pres">
      <dgm:prSet presAssocID="{3460E1DB-8AB8-4E5C-9AC1-14BC38BDAFB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FCF65061-9135-49EB-B7BB-2BFF563AC21B}" type="pres">
      <dgm:prSet presAssocID="{3460E1DB-8AB8-4E5C-9AC1-14BC38BDAFBD}" presName="spaceRect" presStyleCnt="0"/>
      <dgm:spPr/>
    </dgm:pt>
    <dgm:pt modelId="{1E0E0D0A-F442-44C7-B054-4511E0982AF8}" type="pres">
      <dgm:prSet presAssocID="{3460E1DB-8AB8-4E5C-9AC1-14BC38BDAFBD}" presName="parTx" presStyleLbl="revTx" presStyleIdx="0" presStyleCnt="3">
        <dgm:presLayoutVars>
          <dgm:chMax val="0"/>
          <dgm:chPref val="0"/>
        </dgm:presLayoutVars>
      </dgm:prSet>
      <dgm:spPr/>
    </dgm:pt>
    <dgm:pt modelId="{CEBE2E45-420D-4F07-8A3B-D35076B2AE25}" type="pres">
      <dgm:prSet presAssocID="{C8CF787F-6125-4B54-A1BF-3B09C22BD095}" presName="sibTrans" presStyleCnt="0"/>
      <dgm:spPr/>
    </dgm:pt>
    <dgm:pt modelId="{004283B8-0896-4C5D-AB9B-D918477AA4E4}" type="pres">
      <dgm:prSet presAssocID="{03640B74-ACE4-410B-A5FC-90F3013B89D6}" presName="compNode" presStyleCnt="0"/>
      <dgm:spPr/>
    </dgm:pt>
    <dgm:pt modelId="{49574E47-89AA-4D2F-9E9A-A9F3E3449E15}" type="pres">
      <dgm:prSet presAssocID="{03640B74-ACE4-410B-A5FC-90F3013B89D6}" presName="bgRect" presStyleLbl="bgShp" presStyleIdx="1" presStyleCnt="3"/>
      <dgm:spPr/>
    </dgm:pt>
    <dgm:pt modelId="{3AFD711E-8473-4CCD-BF18-5EEB3EFE00C4}" type="pres">
      <dgm:prSet presAssocID="{03640B74-ACE4-410B-A5FC-90F3013B89D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B1276552-15A0-4079-A0A7-941F0D7A22E3}" type="pres">
      <dgm:prSet presAssocID="{03640B74-ACE4-410B-A5FC-90F3013B89D6}" presName="spaceRect" presStyleCnt="0"/>
      <dgm:spPr/>
    </dgm:pt>
    <dgm:pt modelId="{00019305-C191-4D6B-AEA1-10FEF4D504B7}" type="pres">
      <dgm:prSet presAssocID="{03640B74-ACE4-410B-A5FC-90F3013B89D6}" presName="parTx" presStyleLbl="revTx" presStyleIdx="1" presStyleCnt="3">
        <dgm:presLayoutVars>
          <dgm:chMax val="0"/>
          <dgm:chPref val="0"/>
        </dgm:presLayoutVars>
      </dgm:prSet>
      <dgm:spPr/>
    </dgm:pt>
    <dgm:pt modelId="{D6EA9C1B-283F-4719-BFA5-B1C2E85C5726}" type="pres">
      <dgm:prSet presAssocID="{9E8AB8F8-7636-40D0-8BF0-1D063D20E04E}" presName="sibTrans" presStyleCnt="0"/>
      <dgm:spPr/>
    </dgm:pt>
    <dgm:pt modelId="{2477288D-F7FB-4FBD-86C3-AA204161B47A}" type="pres">
      <dgm:prSet presAssocID="{CBBEDD19-4F76-49DA-AE57-5FABE67CAAB4}" presName="compNode" presStyleCnt="0"/>
      <dgm:spPr/>
    </dgm:pt>
    <dgm:pt modelId="{9914A0FE-3D9E-483D-92CF-FC9A888EF7ED}" type="pres">
      <dgm:prSet presAssocID="{CBBEDD19-4F76-49DA-AE57-5FABE67CAAB4}" presName="bgRect" presStyleLbl="bgShp" presStyleIdx="2" presStyleCnt="3"/>
      <dgm:spPr/>
    </dgm:pt>
    <dgm:pt modelId="{1714D077-6135-42B2-B9DE-2685282F25CB}" type="pres">
      <dgm:prSet presAssocID="{CBBEDD19-4F76-49DA-AE57-5FABE67CAAB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5197F08B-7A7C-48F6-8EA8-9A0311C64342}" type="pres">
      <dgm:prSet presAssocID="{CBBEDD19-4F76-49DA-AE57-5FABE67CAAB4}" presName="spaceRect" presStyleCnt="0"/>
      <dgm:spPr/>
    </dgm:pt>
    <dgm:pt modelId="{9F0D4B37-FAE2-4B16-B782-7A60C2E44D34}" type="pres">
      <dgm:prSet presAssocID="{CBBEDD19-4F76-49DA-AE57-5FABE67CAA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2E8673D-2562-4A59-85AB-9483885C8C2A}" type="presOf" srcId="{CBBEDD19-4F76-49DA-AE57-5FABE67CAAB4}" destId="{9F0D4B37-FAE2-4B16-B782-7A60C2E44D34}" srcOrd="0" destOrd="0" presId="urn:microsoft.com/office/officeart/2018/2/layout/IconVerticalSolidList"/>
    <dgm:cxn modelId="{1692BB4C-70D4-45D9-8E7B-02F5F2EA8ED7}" type="presOf" srcId="{2B794113-1111-4E64-945E-636E6E96DBE6}" destId="{18E7D0E0-E74C-4CA6-AC4D-6D4528FAA2D0}" srcOrd="0" destOrd="0" presId="urn:microsoft.com/office/officeart/2018/2/layout/IconVerticalSolidList"/>
    <dgm:cxn modelId="{11ACE4A2-C376-4005-82DE-A98A028250B5}" type="presOf" srcId="{3460E1DB-8AB8-4E5C-9AC1-14BC38BDAFBD}" destId="{1E0E0D0A-F442-44C7-B054-4511E0982AF8}" srcOrd="0" destOrd="0" presId="urn:microsoft.com/office/officeart/2018/2/layout/IconVerticalSolidList"/>
    <dgm:cxn modelId="{1FC55DD4-49F1-427F-9274-258364A94C74}" type="presOf" srcId="{03640B74-ACE4-410B-A5FC-90F3013B89D6}" destId="{00019305-C191-4D6B-AEA1-10FEF4D504B7}" srcOrd="0" destOrd="0" presId="urn:microsoft.com/office/officeart/2018/2/layout/IconVerticalSolidList"/>
    <dgm:cxn modelId="{9E5EC8DE-9F27-45FB-B2EE-FAB8D8A3A02D}" srcId="{2B794113-1111-4E64-945E-636E6E96DBE6}" destId="{03640B74-ACE4-410B-A5FC-90F3013B89D6}" srcOrd="1" destOrd="0" parTransId="{DCBC437E-FE99-4298-A765-A687366DF6AB}" sibTransId="{9E8AB8F8-7636-40D0-8BF0-1D063D20E04E}"/>
    <dgm:cxn modelId="{F7CCFAE7-A5F1-4B33-AC70-B6B8E0A869B3}" srcId="{2B794113-1111-4E64-945E-636E6E96DBE6}" destId="{CBBEDD19-4F76-49DA-AE57-5FABE67CAAB4}" srcOrd="2" destOrd="0" parTransId="{9E1BC5BA-4B54-473B-94B4-9DD3D9DD6D17}" sibTransId="{A6A78E8D-93F5-412A-8819-9C13CCE866DF}"/>
    <dgm:cxn modelId="{CD8C92F6-DE02-498B-A159-2FCF8FA5643A}" srcId="{2B794113-1111-4E64-945E-636E6E96DBE6}" destId="{3460E1DB-8AB8-4E5C-9AC1-14BC38BDAFBD}" srcOrd="0" destOrd="0" parTransId="{4ECA9EB6-672D-4853-A99F-3406A3CEE456}" sibTransId="{C8CF787F-6125-4B54-A1BF-3B09C22BD095}"/>
    <dgm:cxn modelId="{E91F147F-BDB6-421A-814E-FD1B2622C8F2}" type="presParOf" srcId="{18E7D0E0-E74C-4CA6-AC4D-6D4528FAA2D0}" destId="{EC13609F-8021-416B-AE62-D1BF59E03B33}" srcOrd="0" destOrd="0" presId="urn:microsoft.com/office/officeart/2018/2/layout/IconVerticalSolidList"/>
    <dgm:cxn modelId="{4075F8AE-1405-4360-8996-F093AF86336B}" type="presParOf" srcId="{EC13609F-8021-416B-AE62-D1BF59E03B33}" destId="{243B9D82-E0F2-41B3-B317-59BB2B8B2698}" srcOrd="0" destOrd="0" presId="urn:microsoft.com/office/officeart/2018/2/layout/IconVerticalSolidList"/>
    <dgm:cxn modelId="{C324C6BA-DDC2-48F2-A5AF-A6F5838BAEED}" type="presParOf" srcId="{EC13609F-8021-416B-AE62-D1BF59E03B33}" destId="{88596372-0E64-4DAF-B6C3-B8032005C917}" srcOrd="1" destOrd="0" presId="urn:microsoft.com/office/officeart/2018/2/layout/IconVerticalSolidList"/>
    <dgm:cxn modelId="{0DF13C32-4309-4851-B78D-1D3C97A6C2C6}" type="presParOf" srcId="{EC13609F-8021-416B-AE62-D1BF59E03B33}" destId="{FCF65061-9135-49EB-B7BB-2BFF563AC21B}" srcOrd="2" destOrd="0" presId="urn:microsoft.com/office/officeart/2018/2/layout/IconVerticalSolidList"/>
    <dgm:cxn modelId="{D081C89A-9DFA-4B12-B4C5-E2397269DA2B}" type="presParOf" srcId="{EC13609F-8021-416B-AE62-D1BF59E03B33}" destId="{1E0E0D0A-F442-44C7-B054-4511E0982AF8}" srcOrd="3" destOrd="0" presId="urn:microsoft.com/office/officeart/2018/2/layout/IconVerticalSolidList"/>
    <dgm:cxn modelId="{D6DC6AA8-4E98-465A-970F-43B5889EE084}" type="presParOf" srcId="{18E7D0E0-E74C-4CA6-AC4D-6D4528FAA2D0}" destId="{CEBE2E45-420D-4F07-8A3B-D35076B2AE25}" srcOrd="1" destOrd="0" presId="urn:microsoft.com/office/officeart/2018/2/layout/IconVerticalSolidList"/>
    <dgm:cxn modelId="{61DCA28F-45D0-4878-9E15-615C5D604848}" type="presParOf" srcId="{18E7D0E0-E74C-4CA6-AC4D-6D4528FAA2D0}" destId="{004283B8-0896-4C5D-AB9B-D918477AA4E4}" srcOrd="2" destOrd="0" presId="urn:microsoft.com/office/officeart/2018/2/layout/IconVerticalSolidList"/>
    <dgm:cxn modelId="{CAB9F5B0-16B8-4C7F-9FA7-688E3B42A2C7}" type="presParOf" srcId="{004283B8-0896-4C5D-AB9B-D918477AA4E4}" destId="{49574E47-89AA-4D2F-9E9A-A9F3E3449E15}" srcOrd="0" destOrd="0" presId="urn:microsoft.com/office/officeart/2018/2/layout/IconVerticalSolidList"/>
    <dgm:cxn modelId="{4436EE79-4126-44D2-94B9-AE3D768252A2}" type="presParOf" srcId="{004283B8-0896-4C5D-AB9B-D918477AA4E4}" destId="{3AFD711E-8473-4CCD-BF18-5EEB3EFE00C4}" srcOrd="1" destOrd="0" presId="urn:microsoft.com/office/officeart/2018/2/layout/IconVerticalSolidList"/>
    <dgm:cxn modelId="{ACE82721-6F46-4851-AECC-A70D68B5DDD1}" type="presParOf" srcId="{004283B8-0896-4C5D-AB9B-D918477AA4E4}" destId="{B1276552-15A0-4079-A0A7-941F0D7A22E3}" srcOrd="2" destOrd="0" presId="urn:microsoft.com/office/officeart/2018/2/layout/IconVerticalSolidList"/>
    <dgm:cxn modelId="{9614FA64-B7A1-4C52-A784-B1204F61F333}" type="presParOf" srcId="{004283B8-0896-4C5D-AB9B-D918477AA4E4}" destId="{00019305-C191-4D6B-AEA1-10FEF4D504B7}" srcOrd="3" destOrd="0" presId="urn:microsoft.com/office/officeart/2018/2/layout/IconVerticalSolidList"/>
    <dgm:cxn modelId="{0DC68897-FF34-490C-B4BE-31EA8E7B27C3}" type="presParOf" srcId="{18E7D0E0-E74C-4CA6-AC4D-6D4528FAA2D0}" destId="{D6EA9C1B-283F-4719-BFA5-B1C2E85C5726}" srcOrd="3" destOrd="0" presId="urn:microsoft.com/office/officeart/2018/2/layout/IconVerticalSolidList"/>
    <dgm:cxn modelId="{95EDF2FE-7398-40B8-8C10-B0921312E147}" type="presParOf" srcId="{18E7D0E0-E74C-4CA6-AC4D-6D4528FAA2D0}" destId="{2477288D-F7FB-4FBD-86C3-AA204161B47A}" srcOrd="4" destOrd="0" presId="urn:microsoft.com/office/officeart/2018/2/layout/IconVerticalSolidList"/>
    <dgm:cxn modelId="{83C82D9C-2626-48B1-B75D-91FD35E04EF5}" type="presParOf" srcId="{2477288D-F7FB-4FBD-86C3-AA204161B47A}" destId="{9914A0FE-3D9E-483D-92CF-FC9A888EF7ED}" srcOrd="0" destOrd="0" presId="urn:microsoft.com/office/officeart/2018/2/layout/IconVerticalSolidList"/>
    <dgm:cxn modelId="{C9FF6EB1-62C2-4576-B54B-7FD2158114BA}" type="presParOf" srcId="{2477288D-F7FB-4FBD-86C3-AA204161B47A}" destId="{1714D077-6135-42B2-B9DE-2685282F25CB}" srcOrd="1" destOrd="0" presId="urn:microsoft.com/office/officeart/2018/2/layout/IconVerticalSolidList"/>
    <dgm:cxn modelId="{D2B32A7E-0B6F-4DEB-A8F6-D58A4BF5D90F}" type="presParOf" srcId="{2477288D-F7FB-4FBD-86C3-AA204161B47A}" destId="{5197F08B-7A7C-48F6-8EA8-9A0311C64342}" srcOrd="2" destOrd="0" presId="urn:microsoft.com/office/officeart/2018/2/layout/IconVerticalSolidList"/>
    <dgm:cxn modelId="{535DE5A6-4A4F-4EB3-9910-BD34BD5E60CE}" type="presParOf" srcId="{2477288D-F7FB-4FBD-86C3-AA204161B47A}" destId="{9F0D4B37-FAE2-4B16-B782-7A60C2E44D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E1875D-226D-4755-BF2F-77824D5471F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0D16A3-0DF8-49F1-8705-E3729C47DD8F}">
      <dgm:prSet/>
      <dgm:spPr/>
      <dgm:t>
        <a:bodyPr/>
        <a:lstStyle/>
        <a:p>
          <a:r>
            <a:rPr lang="en-US" b="0" i="0"/>
            <a:t>Validación Global: Modelo consistente (F = 5.22, p &lt; 0.001 | R² = 13.8%).</a:t>
          </a:r>
          <a:endParaRPr lang="en-US"/>
        </a:p>
      </dgm:t>
    </dgm:pt>
    <dgm:pt modelId="{BAAFCB15-A90B-4597-AD68-9DA44F4389EE}" type="parTrans" cxnId="{56640122-275D-4B6E-9B83-C17F8663892B}">
      <dgm:prSet/>
      <dgm:spPr/>
      <dgm:t>
        <a:bodyPr/>
        <a:lstStyle/>
        <a:p>
          <a:endParaRPr lang="en-US"/>
        </a:p>
      </dgm:t>
    </dgm:pt>
    <dgm:pt modelId="{231A6455-03F8-453F-9E74-F3D2753687DC}" type="sibTrans" cxnId="{56640122-275D-4B6E-9B83-C17F8663892B}">
      <dgm:prSet/>
      <dgm:spPr/>
      <dgm:t>
        <a:bodyPr/>
        <a:lstStyle/>
        <a:p>
          <a:endParaRPr lang="en-US"/>
        </a:p>
      </dgm:t>
    </dgm:pt>
    <dgm:pt modelId="{D6B9F47B-2A99-444B-A528-00DE41BFB098}">
      <dgm:prSet/>
      <dgm:spPr/>
      <dgm:t>
        <a:bodyPr/>
        <a:lstStyle/>
        <a:p>
          <a:r>
            <a:rPr lang="en-US" b="0" i="0"/>
            <a:t>Variable Región: Efecto neutro y no significativo (p = 0.722).</a:t>
          </a:r>
          <a:endParaRPr lang="en-US"/>
        </a:p>
      </dgm:t>
    </dgm:pt>
    <dgm:pt modelId="{7DA06295-0909-4569-B238-D3D494BFB9EC}" type="parTrans" cxnId="{E0AD582F-EAF0-44F5-B823-9F03DD3E17EF}">
      <dgm:prSet/>
      <dgm:spPr/>
      <dgm:t>
        <a:bodyPr/>
        <a:lstStyle/>
        <a:p>
          <a:endParaRPr lang="en-US"/>
        </a:p>
      </dgm:t>
    </dgm:pt>
    <dgm:pt modelId="{6F6E1EB2-80F1-446C-93D4-D9A666E78515}" type="sibTrans" cxnId="{E0AD582F-EAF0-44F5-B823-9F03DD3E17EF}">
      <dgm:prSet/>
      <dgm:spPr/>
      <dgm:t>
        <a:bodyPr/>
        <a:lstStyle/>
        <a:p>
          <a:endParaRPr lang="en-US"/>
        </a:p>
      </dgm:t>
    </dgm:pt>
    <dgm:pt modelId="{0B0B630D-DD7E-4FBA-86DE-ED0DD1F1B7F1}">
      <dgm:prSet/>
      <dgm:spPr/>
      <dgm:t>
        <a:bodyPr/>
        <a:lstStyle/>
        <a:p>
          <a:r>
            <a:rPr lang="en-US" b="0" i="0"/>
            <a:t>Peso del Agro: Coeficiente NEGATIVO y muy significativo (beta = -0.177).</a:t>
          </a:r>
          <a:endParaRPr lang="en-US"/>
        </a:p>
      </dgm:t>
    </dgm:pt>
    <dgm:pt modelId="{88BF714F-A162-4B20-B085-9A287E316EF8}" type="parTrans" cxnId="{FA74C986-0D85-44CC-9200-722EFE110C40}">
      <dgm:prSet/>
      <dgm:spPr/>
      <dgm:t>
        <a:bodyPr/>
        <a:lstStyle/>
        <a:p>
          <a:endParaRPr lang="en-US"/>
        </a:p>
      </dgm:t>
    </dgm:pt>
    <dgm:pt modelId="{B533903F-1D91-4363-BE35-A833B54C046D}" type="sibTrans" cxnId="{FA74C986-0D85-44CC-9200-722EFE110C40}">
      <dgm:prSet/>
      <dgm:spPr/>
      <dgm:t>
        <a:bodyPr/>
        <a:lstStyle/>
        <a:p>
          <a:endParaRPr lang="en-US"/>
        </a:p>
      </dgm:t>
    </dgm:pt>
    <dgm:pt modelId="{C88FE66A-30F8-4599-A6D7-CD2C35C10F50}">
      <dgm:prSet/>
      <dgm:spPr/>
      <dgm:t>
        <a:bodyPr/>
        <a:lstStyle/>
        <a:p>
          <a:r>
            <a:rPr lang="en-US" b="0" i="0"/>
            <a:t>Corrección: Errores estándar robustos a la heterocedasticidad (White).</a:t>
          </a:r>
          <a:endParaRPr lang="en-US"/>
        </a:p>
      </dgm:t>
    </dgm:pt>
    <dgm:pt modelId="{5C52505D-7553-42F8-A198-3BB111EEF801}" type="parTrans" cxnId="{AD27F414-4888-4A8D-909B-01C821F57B5C}">
      <dgm:prSet/>
      <dgm:spPr/>
      <dgm:t>
        <a:bodyPr/>
        <a:lstStyle/>
        <a:p>
          <a:endParaRPr lang="en-US"/>
        </a:p>
      </dgm:t>
    </dgm:pt>
    <dgm:pt modelId="{E8ABFE61-066B-4902-8B84-FF2822EFDEDB}" type="sibTrans" cxnId="{AD27F414-4888-4A8D-909B-01C821F57B5C}">
      <dgm:prSet/>
      <dgm:spPr/>
      <dgm:t>
        <a:bodyPr/>
        <a:lstStyle/>
        <a:p>
          <a:endParaRPr lang="en-US"/>
        </a:p>
      </dgm:t>
    </dgm:pt>
    <dgm:pt modelId="{267B039E-904C-4251-A8AF-56788E2B0A92}" type="pres">
      <dgm:prSet presAssocID="{F7E1875D-226D-4755-BF2F-77824D5471F2}" presName="linear" presStyleCnt="0">
        <dgm:presLayoutVars>
          <dgm:animLvl val="lvl"/>
          <dgm:resizeHandles val="exact"/>
        </dgm:presLayoutVars>
      </dgm:prSet>
      <dgm:spPr/>
    </dgm:pt>
    <dgm:pt modelId="{2C2E8742-BBC4-4FE5-8B36-6C639B36244C}" type="pres">
      <dgm:prSet presAssocID="{780D16A3-0DF8-49F1-8705-E3729C47DD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459F5C-81D7-4285-A946-22A494D06D4B}" type="pres">
      <dgm:prSet presAssocID="{231A6455-03F8-453F-9E74-F3D2753687DC}" presName="spacer" presStyleCnt="0"/>
      <dgm:spPr/>
    </dgm:pt>
    <dgm:pt modelId="{837629C1-3660-455E-AE39-C72709226680}" type="pres">
      <dgm:prSet presAssocID="{D6B9F47B-2A99-444B-A528-00DE41BFB0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AC01E2-8D15-4D20-9601-E6894F37D220}" type="pres">
      <dgm:prSet presAssocID="{6F6E1EB2-80F1-446C-93D4-D9A666E78515}" presName="spacer" presStyleCnt="0"/>
      <dgm:spPr/>
    </dgm:pt>
    <dgm:pt modelId="{1688EE40-3C8A-4180-80AE-C3ED94745507}" type="pres">
      <dgm:prSet presAssocID="{0B0B630D-DD7E-4FBA-86DE-ED0DD1F1B7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AC3EC97-DFE8-422B-9429-D7B5427792F5}" type="pres">
      <dgm:prSet presAssocID="{B533903F-1D91-4363-BE35-A833B54C046D}" presName="spacer" presStyleCnt="0"/>
      <dgm:spPr/>
    </dgm:pt>
    <dgm:pt modelId="{B98DFB46-22DD-442D-BA98-E282D778D190}" type="pres">
      <dgm:prSet presAssocID="{C88FE66A-30F8-4599-A6D7-CD2C35C10F5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510A414-3392-4015-8B4B-91A2270F8C46}" type="presOf" srcId="{780D16A3-0DF8-49F1-8705-E3729C47DD8F}" destId="{2C2E8742-BBC4-4FE5-8B36-6C639B36244C}" srcOrd="0" destOrd="0" presId="urn:microsoft.com/office/officeart/2005/8/layout/vList2"/>
    <dgm:cxn modelId="{AD27F414-4888-4A8D-909B-01C821F57B5C}" srcId="{F7E1875D-226D-4755-BF2F-77824D5471F2}" destId="{C88FE66A-30F8-4599-A6D7-CD2C35C10F50}" srcOrd="3" destOrd="0" parTransId="{5C52505D-7553-42F8-A198-3BB111EEF801}" sibTransId="{E8ABFE61-066B-4902-8B84-FF2822EFDEDB}"/>
    <dgm:cxn modelId="{43B9AE1B-5DF6-4E1D-9E89-4EBEBAD796F4}" type="presOf" srcId="{F7E1875D-226D-4755-BF2F-77824D5471F2}" destId="{267B039E-904C-4251-A8AF-56788E2B0A92}" srcOrd="0" destOrd="0" presId="urn:microsoft.com/office/officeart/2005/8/layout/vList2"/>
    <dgm:cxn modelId="{F89D041D-E66A-4726-B45A-2EE2F9F97608}" type="presOf" srcId="{D6B9F47B-2A99-444B-A528-00DE41BFB098}" destId="{837629C1-3660-455E-AE39-C72709226680}" srcOrd="0" destOrd="0" presId="urn:microsoft.com/office/officeart/2005/8/layout/vList2"/>
    <dgm:cxn modelId="{56640122-275D-4B6E-9B83-C17F8663892B}" srcId="{F7E1875D-226D-4755-BF2F-77824D5471F2}" destId="{780D16A3-0DF8-49F1-8705-E3729C47DD8F}" srcOrd="0" destOrd="0" parTransId="{BAAFCB15-A90B-4597-AD68-9DA44F4389EE}" sibTransId="{231A6455-03F8-453F-9E74-F3D2753687DC}"/>
    <dgm:cxn modelId="{E0AD582F-EAF0-44F5-B823-9F03DD3E17EF}" srcId="{F7E1875D-226D-4755-BF2F-77824D5471F2}" destId="{D6B9F47B-2A99-444B-A528-00DE41BFB098}" srcOrd="1" destOrd="0" parTransId="{7DA06295-0909-4569-B238-D3D494BFB9EC}" sibTransId="{6F6E1EB2-80F1-446C-93D4-D9A666E78515}"/>
    <dgm:cxn modelId="{BB58B786-B62C-4992-968E-51CBBABB7900}" type="presOf" srcId="{C88FE66A-30F8-4599-A6D7-CD2C35C10F50}" destId="{B98DFB46-22DD-442D-BA98-E282D778D190}" srcOrd="0" destOrd="0" presId="urn:microsoft.com/office/officeart/2005/8/layout/vList2"/>
    <dgm:cxn modelId="{FA74C986-0D85-44CC-9200-722EFE110C40}" srcId="{F7E1875D-226D-4755-BF2F-77824D5471F2}" destId="{0B0B630D-DD7E-4FBA-86DE-ED0DD1F1B7F1}" srcOrd="2" destOrd="0" parTransId="{88BF714F-A162-4B20-B085-9A287E316EF8}" sibTransId="{B533903F-1D91-4363-BE35-A833B54C046D}"/>
    <dgm:cxn modelId="{B1174EF7-F2D3-4811-9D02-DB8A9F194D7F}" type="presOf" srcId="{0B0B630D-DD7E-4FBA-86DE-ED0DD1F1B7F1}" destId="{1688EE40-3C8A-4180-80AE-C3ED94745507}" srcOrd="0" destOrd="0" presId="urn:microsoft.com/office/officeart/2005/8/layout/vList2"/>
    <dgm:cxn modelId="{F698727E-2B8A-4C13-B3CE-47BA21C74CAD}" type="presParOf" srcId="{267B039E-904C-4251-A8AF-56788E2B0A92}" destId="{2C2E8742-BBC4-4FE5-8B36-6C639B36244C}" srcOrd="0" destOrd="0" presId="urn:microsoft.com/office/officeart/2005/8/layout/vList2"/>
    <dgm:cxn modelId="{9F5C4881-4C4C-4E89-8FC0-2DF21D1FEC36}" type="presParOf" srcId="{267B039E-904C-4251-A8AF-56788E2B0A92}" destId="{90459F5C-81D7-4285-A946-22A494D06D4B}" srcOrd="1" destOrd="0" presId="urn:microsoft.com/office/officeart/2005/8/layout/vList2"/>
    <dgm:cxn modelId="{DBD0E1B7-1DC9-48D3-A7E1-41E646E33F36}" type="presParOf" srcId="{267B039E-904C-4251-A8AF-56788E2B0A92}" destId="{837629C1-3660-455E-AE39-C72709226680}" srcOrd="2" destOrd="0" presId="urn:microsoft.com/office/officeart/2005/8/layout/vList2"/>
    <dgm:cxn modelId="{CB345A25-FAF6-4A49-BCD5-7914640BEAC5}" type="presParOf" srcId="{267B039E-904C-4251-A8AF-56788E2B0A92}" destId="{76AC01E2-8D15-4D20-9601-E6894F37D220}" srcOrd="3" destOrd="0" presId="urn:microsoft.com/office/officeart/2005/8/layout/vList2"/>
    <dgm:cxn modelId="{35CD3287-7552-494F-9B05-92BCCA13511B}" type="presParOf" srcId="{267B039E-904C-4251-A8AF-56788E2B0A92}" destId="{1688EE40-3C8A-4180-80AE-C3ED94745507}" srcOrd="4" destOrd="0" presId="urn:microsoft.com/office/officeart/2005/8/layout/vList2"/>
    <dgm:cxn modelId="{3982A9B0-87B0-4C7F-8632-6188958E3331}" type="presParOf" srcId="{267B039E-904C-4251-A8AF-56788E2B0A92}" destId="{0AC3EC97-DFE8-422B-9429-D7B5427792F5}" srcOrd="5" destOrd="0" presId="urn:microsoft.com/office/officeart/2005/8/layout/vList2"/>
    <dgm:cxn modelId="{4AD2992E-829C-482B-A07F-6ABC95359935}" type="presParOf" srcId="{267B039E-904C-4251-A8AF-56788E2B0A92}" destId="{B98DFB46-22DD-442D-BA98-E282D778D1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B9D82-E0F2-41B3-B317-59BB2B8B2698}">
      <dsp:nvSpPr>
        <dsp:cNvPr id="0" name=""/>
        <dsp:cNvSpPr/>
      </dsp:nvSpPr>
      <dsp:spPr>
        <a:xfrm>
          <a:off x="0" y="615"/>
          <a:ext cx="5470207" cy="14401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96372-0E64-4DAF-B6C3-B8032005C917}">
      <dsp:nvSpPr>
        <dsp:cNvPr id="0" name=""/>
        <dsp:cNvSpPr/>
      </dsp:nvSpPr>
      <dsp:spPr>
        <a:xfrm>
          <a:off x="435651" y="324653"/>
          <a:ext cx="792093" cy="7920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E0D0A-F442-44C7-B054-4511E0982AF8}">
      <dsp:nvSpPr>
        <dsp:cNvPr id="0" name=""/>
        <dsp:cNvSpPr/>
      </dsp:nvSpPr>
      <dsp:spPr>
        <a:xfrm>
          <a:off x="1663397" y="615"/>
          <a:ext cx="3806809" cy="144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18" tIns="152418" rIns="152418" bIns="15241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Pregunta: ¿Qué determinó la velocidad del rebote municipal?</a:t>
          </a:r>
          <a:endParaRPr lang="en-US" sz="2300" kern="1200"/>
        </a:p>
      </dsp:txBody>
      <dsp:txXfrm>
        <a:off x="1663397" y="615"/>
        <a:ext cx="3806809" cy="1440170"/>
      </dsp:txXfrm>
    </dsp:sp>
    <dsp:sp modelId="{49574E47-89AA-4D2F-9E9A-A9F3E3449E15}">
      <dsp:nvSpPr>
        <dsp:cNvPr id="0" name=""/>
        <dsp:cNvSpPr/>
      </dsp:nvSpPr>
      <dsp:spPr>
        <a:xfrm>
          <a:off x="0" y="1800829"/>
          <a:ext cx="5470207" cy="14401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D711E-8473-4CCD-BF18-5EEB3EFE00C4}">
      <dsp:nvSpPr>
        <dsp:cNvPr id="0" name=""/>
        <dsp:cNvSpPr/>
      </dsp:nvSpPr>
      <dsp:spPr>
        <a:xfrm>
          <a:off x="435651" y="2124867"/>
          <a:ext cx="792093" cy="7920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19305-C191-4D6B-AEA1-10FEF4D504B7}">
      <dsp:nvSpPr>
        <dsp:cNvPr id="0" name=""/>
        <dsp:cNvSpPr/>
      </dsp:nvSpPr>
      <dsp:spPr>
        <a:xfrm>
          <a:off x="1663397" y="1800829"/>
          <a:ext cx="3806809" cy="144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18" tIns="152418" rIns="152418" bIns="15241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H1 (Geográfica): El Interior agroindustrial lideró sobre un AMBA rezagado.</a:t>
          </a:r>
          <a:endParaRPr lang="en-US" sz="2300" kern="1200"/>
        </a:p>
      </dsp:txBody>
      <dsp:txXfrm>
        <a:off x="1663397" y="1800829"/>
        <a:ext cx="3806809" cy="1440170"/>
      </dsp:txXfrm>
    </dsp:sp>
    <dsp:sp modelId="{9914A0FE-3D9E-483D-92CF-FC9A888EF7ED}">
      <dsp:nvSpPr>
        <dsp:cNvPr id="0" name=""/>
        <dsp:cNvSpPr/>
      </dsp:nvSpPr>
      <dsp:spPr>
        <a:xfrm>
          <a:off x="0" y="3601042"/>
          <a:ext cx="5470207" cy="14401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14D077-6135-42B2-B9DE-2685282F25CB}">
      <dsp:nvSpPr>
        <dsp:cNvPr id="0" name=""/>
        <dsp:cNvSpPr/>
      </dsp:nvSpPr>
      <dsp:spPr>
        <a:xfrm>
          <a:off x="435651" y="3925081"/>
          <a:ext cx="792093" cy="7920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0D4B37-FAE2-4B16-B782-7A60C2E44D34}">
      <dsp:nvSpPr>
        <dsp:cNvPr id="0" name=""/>
        <dsp:cNvSpPr/>
      </dsp:nvSpPr>
      <dsp:spPr>
        <a:xfrm>
          <a:off x="1663397" y="3601042"/>
          <a:ext cx="3806809" cy="144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18" tIns="152418" rIns="152418" bIns="15241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H2 (Sectorial): Los Bienes traccionaron el crecimiento real sobre los Servicios.</a:t>
          </a:r>
          <a:endParaRPr lang="en-US" sz="2300" kern="1200"/>
        </a:p>
      </dsp:txBody>
      <dsp:txXfrm>
        <a:off x="1663397" y="3601042"/>
        <a:ext cx="3806809" cy="1440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E8742-BBC4-4FE5-8B36-6C639B36244C}">
      <dsp:nvSpPr>
        <dsp:cNvPr id="0" name=""/>
        <dsp:cNvSpPr/>
      </dsp:nvSpPr>
      <dsp:spPr>
        <a:xfrm>
          <a:off x="0" y="278902"/>
          <a:ext cx="5796200" cy="1074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Validación Global: Modelo consistente (F = 5.22, p &lt; 0.001 | R² = 13.8%).</a:t>
          </a:r>
          <a:endParaRPr lang="en-US" sz="2700" kern="1200"/>
        </a:p>
      </dsp:txBody>
      <dsp:txXfrm>
        <a:off x="52431" y="331333"/>
        <a:ext cx="5691338" cy="969198"/>
      </dsp:txXfrm>
    </dsp:sp>
    <dsp:sp modelId="{837629C1-3660-455E-AE39-C72709226680}">
      <dsp:nvSpPr>
        <dsp:cNvPr id="0" name=""/>
        <dsp:cNvSpPr/>
      </dsp:nvSpPr>
      <dsp:spPr>
        <a:xfrm>
          <a:off x="0" y="1430722"/>
          <a:ext cx="5796200" cy="10740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Variable Región: Efecto neutro y no significativo (p = 0.722).</a:t>
          </a:r>
          <a:endParaRPr lang="en-US" sz="2700" kern="1200"/>
        </a:p>
      </dsp:txBody>
      <dsp:txXfrm>
        <a:off x="52431" y="1483153"/>
        <a:ext cx="5691338" cy="969198"/>
      </dsp:txXfrm>
    </dsp:sp>
    <dsp:sp modelId="{1688EE40-3C8A-4180-80AE-C3ED94745507}">
      <dsp:nvSpPr>
        <dsp:cNvPr id="0" name=""/>
        <dsp:cNvSpPr/>
      </dsp:nvSpPr>
      <dsp:spPr>
        <a:xfrm>
          <a:off x="0" y="2582542"/>
          <a:ext cx="5796200" cy="10740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Peso del Agro: Coeficiente NEGATIVO y muy significativo (beta = -0.177).</a:t>
          </a:r>
          <a:endParaRPr lang="en-US" sz="2700" kern="1200"/>
        </a:p>
      </dsp:txBody>
      <dsp:txXfrm>
        <a:off x="52431" y="2634973"/>
        <a:ext cx="5691338" cy="969198"/>
      </dsp:txXfrm>
    </dsp:sp>
    <dsp:sp modelId="{B98DFB46-22DD-442D-BA98-E282D778D190}">
      <dsp:nvSpPr>
        <dsp:cNvPr id="0" name=""/>
        <dsp:cNvSpPr/>
      </dsp:nvSpPr>
      <dsp:spPr>
        <a:xfrm>
          <a:off x="0" y="3734362"/>
          <a:ext cx="5796200" cy="10740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Corrección: Errores estándar robustos a la heterocedasticidad (White).</a:t>
          </a:r>
          <a:endParaRPr lang="en-US" sz="2700" kern="1200"/>
        </a:p>
      </dsp:txBody>
      <dsp:txXfrm>
        <a:off x="52431" y="3786793"/>
        <a:ext cx="5691338" cy="969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5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8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04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631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13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84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526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50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685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85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21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97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F231E5-F402-49E1-82B4-C762909E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F0BA12B-74D1-4DB1-9A3F-C9BA27B81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3156366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15FCC40-AA93-4D3B-90D0-69BC824EA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8392887" y="1056875"/>
            <a:ext cx="75111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63298" y="1298448"/>
            <a:ext cx="5486400" cy="3255264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 u="none" strike="noStrike" cap="none">
                <a:solidFill>
                  <a:schemeClr val="tx2"/>
                </a:solidFill>
                <a:latin typeface="Arial"/>
                <a:cs typeface="Arial"/>
                <a:sym typeface="Arial"/>
              </a:rPr>
              <a:t>Recuperación Económica Municipal PBA
(2021–2022)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63297" y="4670246"/>
            <a:ext cx="5035674" cy="914400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700" b="0" i="0" u="none" strike="noStrike" cap="none">
                <a:solidFill>
                  <a:schemeClr val="accent1"/>
                </a:solidFill>
                <a:latin typeface="Arial"/>
                <a:cs typeface="Arial"/>
                <a:sym typeface="Arial"/>
              </a:rPr>
              <a:t>Enfoque Estructural: Geografía, Sectores y Efecto Rebote
Ciencia de Datos — FCE-UBA | Grupo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D8036-96D8-496C-8006-37ACA5AD8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A4CBA9-3463-4C65-BF46-6B6C50E7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2142" y="757325"/>
            <a:ext cx="2661858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1831" y="1123837"/>
            <a:ext cx="2210611" cy="4601183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buNone/>
            </a:pPr>
            <a:r>
              <a:rPr lang="es-AR" b="1" i="0" u="none" strike="noStrike" cap="none">
                <a:latin typeface="Arial"/>
                <a:cs typeface="Arial"/>
                <a:sym typeface="Arial"/>
              </a:rPr>
              <a:t>Objetivo e Hipótesis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CEED6C-D39C-40AA-B89E-52C3FA5A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203C4D-C5B6-4731-9DA4-809D471866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013317"/>
              </p:ext>
            </p:extLst>
          </p:nvPr>
        </p:nvGraphicFramePr>
        <p:xfrm>
          <a:off x="649985" y="933854"/>
          <a:ext cx="5470207" cy="5041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4102E8E4-3982-4884-AA0F-68EC37047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552" y="1405464"/>
            <a:ext cx="2431787" cy="4690532"/>
          </a:xfrm>
        </p:spPr>
        <p:txBody>
          <a:bodyPr anchor="b">
            <a:norm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 u="none" strike="noStrike" cap="none">
                <a:solidFill>
                  <a:schemeClr val="accent1"/>
                </a:solidFill>
                <a:latin typeface="Arial"/>
                <a:cs typeface="Arial"/>
                <a:sym typeface="Arial"/>
              </a:rPr>
              <a:t>Datos y Estructura del Modelo</a:t>
            </a: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51EB3F61-F91A-45E6-81DA-F22A4CBAC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8"/>
            <a:ext cx="965201" cy="5333999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085851" y="1405464"/>
            <a:ext cx="5011553" cy="4690532"/>
          </a:xfrm>
        </p:spPr>
        <p:txBody>
          <a:bodyPr anchor="t">
            <a:norm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r>
              <a:rPr b="1" i="0" u="none" strike="noStrike" cap="none" err="1">
                <a:latin typeface="Arial"/>
                <a:cs typeface="Arial"/>
                <a:sym typeface="Arial"/>
              </a:rPr>
              <a:t>Muestra</a:t>
            </a:r>
            <a:r>
              <a:rPr b="1" i="0" u="none" strike="noStrike" cap="none">
                <a:latin typeface="Arial"/>
                <a:cs typeface="Arial"/>
                <a:sym typeface="Arial"/>
              </a:rPr>
              <a:t>: </a:t>
            </a:r>
            <a:r>
              <a:rPr b="0" i="0" u="none" strike="noStrike" cap="none" err="1">
                <a:latin typeface="Arial"/>
                <a:cs typeface="Arial"/>
                <a:sym typeface="Arial"/>
              </a:rPr>
              <a:t>Cobertura</a:t>
            </a:r>
            <a:r>
              <a:rPr b="0" i="0" u="none" strike="noStrike" cap="none">
                <a:latin typeface="Arial"/>
                <a:cs typeface="Arial"/>
                <a:sym typeface="Arial"/>
              </a:rPr>
              <a:t> total (135 municipios de la </a:t>
            </a:r>
            <a:r>
              <a:rPr b="0" i="0" u="none" strike="noStrike" cap="none" err="1">
                <a:latin typeface="Arial"/>
                <a:cs typeface="Arial"/>
                <a:sym typeface="Arial"/>
              </a:rPr>
              <a:t>provincia</a:t>
            </a:r>
            <a:r>
              <a:rPr b="0" i="0" u="none" strike="noStrike" cap="none">
                <a:latin typeface="Arial"/>
                <a:cs typeface="Arial"/>
                <a:sym typeface="Arial"/>
              </a:rPr>
              <a:t>).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r>
              <a:rPr b="1" i="0" u="none" strike="noStrike" cap="none">
                <a:latin typeface="Arial"/>
                <a:cs typeface="Arial"/>
                <a:sym typeface="Arial"/>
              </a:rPr>
              <a:t>Variable Y: </a:t>
            </a:r>
            <a:r>
              <a:rPr b="0" i="0" u="none" strike="noStrike" cap="none" err="1">
                <a:latin typeface="Arial"/>
                <a:cs typeface="Arial"/>
                <a:sym typeface="Arial"/>
              </a:rPr>
              <a:t>Variación</a:t>
            </a:r>
            <a:r>
              <a:rPr b="0" i="0" u="none" strike="noStrike" cap="none">
                <a:latin typeface="Arial"/>
                <a:cs typeface="Arial"/>
                <a:sym typeface="Arial"/>
              </a:rPr>
              <a:t> % </a:t>
            </a:r>
            <a:r>
              <a:rPr b="0" i="0" u="none" strike="noStrike" cap="none" err="1">
                <a:latin typeface="Arial"/>
                <a:cs typeface="Arial"/>
                <a:sym typeface="Arial"/>
              </a:rPr>
              <a:t>anual</a:t>
            </a:r>
            <a:r>
              <a:rPr b="0" i="0" u="none" strike="noStrike" cap="none">
                <a:latin typeface="Arial"/>
                <a:cs typeface="Arial"/>
                <a:sym typeface="Arial"/>
              </a:rPr>
              <a:t> del PBG real (2021-2022).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r>
              <a:rPr b="1" i="0" u="none" strike="noStrike" cap="none" err="1">
                <a:latin typeface="Arial"/>
                <a:cs typeface="Arial"/>
                <a:sym typeface="Arial"/>
              </a:rPr>
              <a:t>Predictores</a:t>
            </a:r>
            <a:r>
              <a:rPr b="1" i="0" u="none" strike="noStrike" cap="none">
                <a:latin typeface="Arial"/>
                <a:cs typeface="Arial"/>
                <a:sym typeface="Arial"/>
              </a:rPr>
              <a:t>: </a:t>
            </a:r>
            <a:r>
              <a:rPr b="0" i="0" u="none" strike="noStrike" cap="none" err="1">
                <a:latin typeface="Arial"/>
                <a:cs typeface="Arial"/>
                <a:sym typeface="Arial"/>
              </a:rPr>
              <a:t>Región</a:t>
            </a:r>
            <a:r>
              <a:rPr b="0" i="0" u="none" strike="noStrike" cap="none">
                <a:latin typeface="Arial"/>
                <a:cs typeface="Arial"/>
                <a:sym typeface="Arial"/>
              </a:rPr>
              <a:t>, Pesos del </a:t>
            </a:r>
            <a:r>
              <a:rPr b="0" i="0" u="none" strike="noStrike" cap="none" err="1">
                <a:latin typeface="Arial"/>
                <a:cs typeface="Arial"/>
                <a:sym typeface="Arial"/>
              </a:rPr>
              <a:t>Agro</a:t>
            </a:r>
            <a:r>
              <a:rPr b="0" i="0" u="none" strike="noStrike" cap="none">
                <a:latin typeface="Arial"/>
                <a:cs typeface="Arial"/>
                <a:sym typeface="Arial"/>
              </a:rPr>
              <a:t> e Industria, </a:t>
            </a:r>
            <a:r>
              <a:rPr b="0" i="0" u="none" strike="noStrike" cap="none" err="1">
                <a:latin typeface="Arial"/>
                <a:cs typeface="Arial"/>
                <a:sym typeface="Arial"/>
              </a:rPr>
              <a:t>Log_Población</a:t>
            </a:r>
            <a:r>
              <a:rPr b="0" i="0" u="none" strike="noStrike" cap="none">
                <a:latin typeface="Arial"/>
                <a:cs typeface="Arial"/>
                <a:sym typeface="Arial"/>
              </a:rPr>
              <a:t> (Control).</a:t>
            </a:r>
            <a:endParaRPr lang="es-AR" b="0" i="0" u="none" strike="noStrike" cap="none">
              <a:latin typeface="Arial"/>
              <a:cs typeface="Arial"/>
              <a:sym typeface="Arial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endParaRPr lang="es-AR">
              <a:latin typeface="Arial"/>
              <a:cs typeface="Arial"/>
              <a:sym typeface="Arial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endParaRPr lang="es-AR" b="0" i="0" u="none" strike="noStrike" cap="none">
              <a:latin typeface="Arial"/>
              <a:cs typeface="Arial"/>
              <a:sym typeface="Arial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endParaRPr lang="es-AR">
              <a:latin typeface="Arial"/>
              <a:cs typeface="Arial"/>
              <a:sym typeface="Arial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endParaRPr b="0" i="0" u="none" strike="noStrike" cap="none">
              <a:latin typeface="Arial"/>
              <a:cs typeface="Arial"/>
              <a:sym typeface="Arial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r>
              <a:rPr b="0" i="0" u="none" strike="noStrike" cap="none">
                <a:latin typeface="Arial"/>
                <a:cs typeface="Arial"/>
                <a:sym typeface="Arial"/>
              </a:rPr>
              <a:t>Fuentes: </a:t>
            </a:r>
            <a:r>
              <a:rPr b="0" i="0" u="none" strike="noStrike" cap="none" err="1">
                <a:latin typeface="Arial"/>
                <a:cs typeface="Arial"/>
                <a:sym typeface="Arial"/>
              </a:rPr>
              <a:t>Ministerio</a:t>
            </a:r>
            <a:r>
              <a:rPr b="0" i="0" u="none" strike="noStrike" cap="none">
                <a:latin typeface="Arial"/>
                <a:cs typeface="Arial"/>
                <a:sym typeface="Arial"/>
              </a:rPr>
              <a:t> de Economía PBA y Censo 2022 (INDEC).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C0D1CB9A-4C6B-4843-B8E9-CD0071D37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268318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1038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>
              <a:spcAft>
                <a:spcPts val="0"/>
              </a:spcAft>
            </a:pPr>
            <a:r>
              <a:rPr lang="en-US" sz="2100" b="1" i="0" u="none" strike="noStrike" cap="none">
                <a:sym typeface="Arial"/>
              </a:rPr>
              <a:t>Diagnóstico de las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690" y="2162014"/>
            <a:ext cx="2210611" cy="37442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Dinámica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: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Rebote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generalizado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pero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con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alta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dispersión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interna.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PBG per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cápita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: Fuerte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asimetría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(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riqueza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concentrada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en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pocos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partidos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).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Outliers: Casos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extremos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detectados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mediante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método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IQR.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Decisión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: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Justifica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el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uso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estadística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 robusta y no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sym typeface="Arial"/>
              </a:rPr>
              <a:t>paramétrica</a:t>
            </a:r>
            <a:r>
              <a:rPr lang="en-US" sz="1400" b="0" i="0" u="none" strike="noStrike" cap="none" dirty="0">
                <a:solidFill>
                  <a:srgbClr val="FFFFFF"/>
                </a:solidFill>
                <a:sym typeface="Arial"/>
              </a:rPr>
              <a:t>.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471B5D8-E8B9-FD9D-3CED-5C631BD18E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4951" y="1664730"/>
            <a:ext cx="5618522" cy="351157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7590" y="757325"/>
            <a:ext cx="3256410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1042" y="1079770"/>
            <a:ext cx="2741143" cy="1527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>
              <a:spcAft>
                <a:spcPts val="0"/>
              </a:spcAft>
            </a:pPr>
            <a:r>
              <a:rPr lang="en-US" sz="2800" b="1" i="0" u="none" strike="noStrike" cap="none">
                <a:sym typeface="Arial"/>
              </a:rPr>
              <a:t>Test 1: ¿AMBA vs. Interior?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BC5A259-DF63-2F00-C5CD-62FDF4C1F2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86" y="1898320"/>
            <a:ext cx="4875730" cy="304733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1042" y="2607014"/>
            <a:ext cx="2741143" cy="31579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FFFFFF"/>
                </a:solidFill>
                <a:sym typeface="Arial"/>
              </a:rPr>
              <a:t>Metodología: Prueba de Wilcoxon-Mann-Whitney (Rangos).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FFFFFF"/>
                </a:solidFill>
                <a:sym typeface="Arial"/>
              </a:rPr>
              <a:t>Resultados: Estadístico W = 1602 | p-value = 0.1209.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FFFFFF"/>
                </a:solidFill>
                <a:sym typeface="Arial"/>
              </a:rPr>
              <a:t>Decisión: No se rechaza la hipótesis nula (p &gt; 0.05).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FFFFFF"/>
                </a:solidFill>
                <a:sym typeface="Arial"/>
              </a:rPr>
              <a:t>Conclusión: La localización geográfica pura NO explicó el crecimiento.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268318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1038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>
              <a:spcAft>
                <a:spcPts val="0"/>
              </a:spcAft>
            </a:pPr>
            <a:r>
              <a:rPr lang="en-US" sz="2100" b="1" i="0" u="none" strike="noStrike" cap="none">
                <a:sym typeface="Arial"/>
              </a:rPr>
              <a:t>Test 2: Bienes vs. Servicios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690" y="2162014"/>
            <a:ext cx="2210611" cy="37442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FFFFFF"/>
                </a:solidFill>
                <a:sym typeface="Arial"/>
              </a:rPr>
              <a:t>Metodología: Prueba de diferencias pareadas intra-municipio.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FFFFFF"/>
                </a:solidFill>
                <a:sym typeface="Arial"/>
              </a:rPr>
              <a:t>Resultados: Bloque Bienes (Agro+Ind) vs. Bloque Servicios comerciales.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FFFFFF"/>
                </a:solidFill>
                <a:sym typeface="Arial"/>
              </a:rPr>
              <a:t>Decisión: Altamente significativo (p &lt; 0.05).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FFFFFF"/>
                </a:solidFill>
                <a:sym typeface="Arial"/>
              </a:rPr>
              <a:t>Conclusión: Las ramas productoras de bienes lideraron la salida de la crisis.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A58A7B2-459B-3609-F0FB-B5B2BD250A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951" y="1545335"/>
            <a:ext cx="5618522" cy="375036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 b="1" i="0" u="none" strike="noStrike" cap="none">
                <a:latin typeface="Arial"/>
                <a:cs typeface="Arial"/>
                <a:sym typeface="Arial"/>
              </a:rPr>
              <a:t>Modelo de Regresión Multivariado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64A441-5F16-A84F-01FD-B3FA6BCF6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001846"/>
              </p:ext>
            </p:extLst>
          </p:nvPr>
        </p:nvGraphicFramePr>
        <p:xfrm>
          <a:off x="2819922" y="885459"/>
          <a:ext cx="5796200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686" y="752748"/>
            <a:ext cx="751111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112" y="1496501"/>
            <a:ext cx="4845923" cy="3864998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b="1" i="0" u="none" strike="noStrike" cap="none" dirty="0">
                <a:latin typeface="Arial"/>
                <a:cs typeface="Arial"/>
                <a:sym typeface="Arial"/>
              </a:rPr>
              <a:t>Rechazo Geográfico: </a:t>
            </a:r>
            <a:r>
              <a:rPr lang="es-ES" b="0" i="0" u="none" strike="noStrike" cap="none" dirty="0">
                <a:latin typeface="Arial"/>
                <a:cs typeface="Arial"/>
                <a:sym typeface="Arial"/>
              </a:rPr>
              <a:t>La brecha lineal AMBA-Interior queda descartada.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b="1" i="0" u="none" strike="noStrike" cap="none" dirty="0">
                <a:latin typeface="Arial"/>
                <a:cs typeface="Arial"/>
                <a:sym typeface="Arial"/>
              </a:rPr>
              <a:t>Efecto Base (Agro): </a:t>
            </a:r>
            <a:r>
              <a:rPr lang="es-ES" b="0" i="0" u="none" strike="noStrike" cap="none" dirty="0">
                <a:latin typeface="Arial"/>
                <a:cs typeface="Arial"/>
                <a:sym typeface="Arial"/>
              </a:rPr>
              <a:t>Como fue esencial en 2020, casi no cayó; por ende, no tuvo rebote elástico en 2021-22.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b="1" i="0" u="none" strike="noStrike" cap="none" dirty="0">
                <a:latin typeface="Arial"/>
                <a:cs typeface="Arial"/>
                <a:sym typeface="Arial"/>
              </a:rPr>
              <a:t>Tracción Industrial: </a:t>
            </a:r>
            <a:r>
              <a:rPr lang="es-ES" b="0" i="0" u="none" strike="noStrike" cap="none" dirty="0">
                <a:latin typeface="Arial"/>
                <a:cs typeface="Arial"/>
                <a:sym typeface="Arial"/>
              </a:rPr>
              <a:t>La velocidad estuvo explicada por los sectores urbanos y fabriles que venían de estar paralizados.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0320" y="761999"/>
            <a:ext cx="3156367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103" y="1865740"/>
            <a:ext cx="2210612" cy="3126520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300" b="1" i="0" u="none" strike="noStrike" cap="none" dirty="0">
                <a:latin typeface="Arial"/>
                <a:cs typeface="Arial"/>
                <a:sym typeface="Arial"/>
              </a:rPr>
              <a:t>Conclusiones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Marco">
  <a:themeElements>
    <a:clrScheme name="Marc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arc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7</TotalTime>
  <Words>392</Words>
  <Application>Microsoft Office PowerPoint</Application>
  <PresentationFormat>Presentación en pantalla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Corbel</vt:lpstr>
      <vt:lpstr>Wingdings 2</vt:lpstr>
      <vt:lpstr>Marco</vt:lpstr>
      <vt:lpstr>Recuperación Económica Municipal PBA
(2021–2022)</vt:lpstr>
      <vt:lpstr>Objetivo e Hipótesis</vt:lpstr>
      <vt:lpstr>Datos y Estructura del Modelo</vt:lpstr>
      <vt:lpstr>Diagnóstico de las Variables</vt:lpstr>
      <vt:lpstr>Test 1: ¿AMBA vs. Interior?</vt:lpstr>
      <vt:lpstr>Test 2: Bienes vs. Servicios</vt:lpstr>
      <vt:lpstr>Modelo de Regresión Multivariado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Rodrigo Ezequiel Astengo</cp:lastModifiedBy>
  <cp:revision>4</cp:revision>
  <dcterms:created xsi:type="dcterms:W3CDTF">2017-02-13T16:18:36Z</dcterms:created>
  <dcterms:modified xsi:type="dcterms:W3CDTF">2026-07-01T03:33:13Z</dcterms:modified>
  <cp:category/>
</cp:coreProperties>
</file>